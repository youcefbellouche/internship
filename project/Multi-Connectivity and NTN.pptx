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embeddedFontLst>
    <p:embeddedFont>
      <p:font typeface="Inter"/>
      <p:bold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633763"/>
            <a:ext cx="106680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633763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395561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Inter"/>
              </a:rPr>
              <a:t>SUMMER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814661"/>
            <a:ext cx="1110138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Outfit"/>
              </a:rPr>
              <a:t>Multi-Connectivity and NTN in oCUDU and srsue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99" y="3384202"/>
            <a:ext cx="10721439" cy="30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>
                <a:solidFill>
                  <a:srgbClr val="CBD5E1"/>
                </a:solidFill>
                <a:latin typeface="Inter"/>
              </a:rPr>
              <a:t>Practical Design, Protocol Stack Re-Engineering, and Empirical Validation on Disaggregated 5G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024288"/>
            <a:ext cx="1833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262413"/>
            <a:ext cx="1833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Youcef Bellouche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8450" y="5024288"/>
            <a:ext cx="6953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COLLABORATORS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8450" y="5262413"/>
            <a:ext cx="34839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8FAFC"/>
                </a:solidFill>
                <a:latin typeface="Inter"/>
              </a:rPr>
              <a:t>Stefano Taborelli, Pedro B. </a:t>
            </a:r>
            <a:r>
              <a:rPr sz="1350" b="0" i="0" u="none" dirty="0" err="1">
                <a:solidFill>
                  <a:srgbClr val="F8FAFC"/>
                </a:solidFill>
                <a:latin typeface="Inter"/>
              </a:rPr>
              <a:t>Velloso</a:t>
            </a:r>
            <a:r>
              <a:rPr sz="1350" b="0" i="0" u="none" dirty="0">
                <a:solidFill>
                  <a:srgbClr val="F8FAFC"/>
                </a:solidFill>
                <a:latin typeface="Inter"/>
              </a:rPr>
              <a:t>, Stefano </a:t>
            </a:r>
            <a:r>
              <a:rPr sz="1350" b="0" i="0" u="none" dirty="0" err="1">
                <a:solidFill>
                  <a:srgbClr val="F8FAFC"/>
                </a:solidFill>
                <a:latin typeface="Inter"/>
              </a:rPr>
              <a:t>Secci</a:t>
            </a:r>
            <a:endParaRPr sz="1350" b="0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10650" y="5024288"/>
            <a:ext cx="2821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0650" y="5262413"/>
            <a:ext cx="93403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8FAFC"/>
                </a:solidFill>
                <a:latin typeface="Inter"/>
              </a:rPr>
              <a:t>CNAM (Paris)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6400"/>
            <a:ext cx="3505200" cy="4572000"/>
          </a:xfrm>
          <a:prstGeom prst="roundRect">
            <a:avLst>
              <a:gd name="adj" fmla="val 326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676400"/>
            <a:ext cx="3505200" cy="4572000"/>
          </a:xfrm>
          <a:prstGeom prst="roundRect">
            <a:avLst>
              <a:gd name="adj" fmla="val 326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676400"/>
            <a:ext cx="3505200" cy="4572000"/>
          </a:xfrm>
          <a:prstGeom prst="roundRect">
            <a:avLst>
              <a:gd name="adj" fmla="val 326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3179415"/>
            <a:ext cx="5143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17941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9775" y="3179415"/>
            <a:ext cx="40005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914400"/>
            <a:ext cx="4549579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it-IT" sz="3200" b="1" dirty="0">
                <a:solidFill>
                  <a:srgbClr val="0F172A"/>
                </a:solidFill>
                <a:latin typeface="Outfit"/>
              </a:rPr>
              <a:t>Onjective of the internship</a:t>
            </a:r>
          </a:p>
          <a:p>
            <a:pPr algn="l">
              <a:lnSpc>
                <a:spcPts val="3600"/>
              </a:lnSpc>
            </a:pPr>
            <a:endParaRPr sz="30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4356" y="3865215"/>
            <a:ext cx="3595687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1" i="0" u="none">
                <a:solidFill>
                  <a:srgbClr val="1E3A8A"/>
                </a:solidFill>
                <a:latin typeface="Inter"/>
              </a:rPr>
              <a:t>First working open-source dual-stack UE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8156" y="3865215"/>
            <a:ext cx="3595687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1" i="0" u="none">
                <a:solidFill>
                  <a:srgbClr val="1E3A8A"/>
                </a:solidFill>
                <a:latin typeface="Inter"/>
              </a:rPr>
              <a:t>Validated 6 distinct space-ground deployment architectures.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956" y="3865215"/>
            <a:ext cx="3595687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1" i="0" u="none">
                <a:solidFill>
                  <a:srgbClr val="1E3A8A"/>
                </a:solidFill>
                <a:latin typeface="Inter"/>
              </a:rPr>
              <a:t>Modeled full 3GPP Release 17 NTN delays and offsets for LEO and GEO.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64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6764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57450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24200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790950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914400"/>
            <a:ext cx="401590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3200" b="1" dirty="0">
                <a:solidFill>
                  <a:srgbClr val="0F172A"/>
                </a:solidFill>
                <a:latin typeface="Outfit"/>
              </a:rPr>
              <a:t>Why </a:t>
            </a:r>
            <a:r>
              <a:rPr lang="en-US" sz="3200" b="1" dirty="0" err="1">
                <a:solidFill>
                  <a:srgbClr val="0F172A"/>
                </a:solidFill>
                <a:latin typeface="Outfit"/>
              </a:rPr>
              <a:t>oCUDU</a:t>
            </a:r>
            <a:r>
              <a:rPr lang="en-US" sz="3200" b="1" dirty="0">
                <a:solidFill>
                  <a:srgbClr val="0F172A"/>
                </a:solidFill>
                <a:latin typeface="Outfit"/>
              </a:rPr>
              <a:t> and </a:t>
            </a:r>
            <a:r>
              <a:rPr lang="en-US" sz="3200" b="1" dirty="0" err="1">
                <a:solidFill>
                  <a:srgbClr val="0F172A"/>
                </a:solidFill>
                <a:latin typeface="Outfit"/>
              </a:rPr>
              <a:t>srsue</a:t>
            </a:r>
            <a:r>
              <a:rPr lang="en-US" sz="3200" b="1" dirty="0">
                <a:solidFill>
                  <a:srgbClr val="0F172A"/>
                </a:solidFill>
                <a:latin typeface="Outfit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914525"/>
            <a:ext cx="637579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The Open-Source Imperative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1914525"/>
            <a:ext cx="5705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Architectural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400300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100% Free architecture.</a:t>
            </a:r>
            <a:r>
              <a:rPr sz="1350" b="0" i="0" u="none">
                <a:solidFill>
                  <a:srgbClr val="1E293B"/>
                </a:solidFill>
                <a:latin typeface="Inter"/>
              </a:rPr>
              <a:t> Full access to every layer without proprietary constraints.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067050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Community-driven transparency.</a:t>
            </a:r>
            <a:r>
              <a:rPr sz="1350" b="0" i="0" u="none">
                <a:solidFill>
                  <a:srgbClr val="1E293B"/>
                </a:solidFill>
                <a:latin typeface="Inter"/>
              </a:rPr>
              <a:t> Complete inspection of internal protocol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733800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Unrestricted refactoring.</a:t>
            </a:r>
            <a:r>
              <a:rPr sz="1350" b="0" i="0" u="none">
                <a:solidFill>
                  <a:srgbClr val="1E293B"/>
                </a:solidFill>
                <a:latin typeface="Inter"/>
              </a:rPr>
              <a:t> Deep architectural changes prohibited by commercial stacks.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400300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oCUDU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695575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E293B"/>
                </a:solidFill>
                <a:latin typeface="Inter"/>
              </a:rPr>
              <a:t>Disaggregated network side. Clean separation of CU-CP, CU-UP, and DUs across F1 and E1 interfaces.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438525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srsue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733800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E293B"/>
                </a:solidFill>
                <a:latin typeface="Inter"/>
              </a:rPr>
              <a:t>Full-stack software UE. Capable of flexible, real-time radio emulation and complex modification.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76450"/>
            <a:ext cx="4895850" cy="1289000"/>
          </a:xfrm>
          <a:prstGeom prst="roundRect">
            <a:avLst>
              <a:gd name="adj" fmla="val 886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17850"/>
            <a:ext cx="4895850" cy="1289000"/>
          </a:xfrm>
          <a:prstGeom prst="roundRect">
            <a:avLst>
              <a:gd name="adj" fmla="val 886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959250"/>
            <a:ext cx="4895850" cy="1289000"/>
          </a:xfrm>
          <a:prstGeom prst="roundRect">
            <a:avLst>
              <a:gd name="adj" fmla="val 886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86550" y="2076450"/>
            <a:ext cx="4895850" cy="1289000"/>
          </a:xfrm>
          <a:prstGeom prst="roundRect">
            <a:avLst>
              <a:gd name="adj" fmla="val 886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86550" y="3517850"/>
            <a:ext cx="4895850" cy="1289000"/>
          </a:xfrm>
          <a:prstGeom prst="roundRect">
            <a:avLst>
              <a:gd name="adj" fmla="val 886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86550" y="4959250"/>
            <a:ext cx="4895850" cy="1289000"/>
          </a:xfrm>
          <a:prstGeom prst="roundRect">
            <a:avLst>
              <a:gd name="adj" fmla="val 886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981450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914400"/>
            <a:ext cx="264732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3200" b="1" dirty="0">
                <a:solidFill>
                  <a:srgbClr val="0F172A"/>
                </a:solidFill>
                <a:latin typeface="Outfit"/>
              </a:rPr>
              <a:t>Before vs.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55376" y="1676400"/>
            <a:ext cx="642580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64748B"/>
                </a:solidFill>
                <a:latin typeface="Space Grotesk"/>
              </a:rPr>
              <a:t>BASELINE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5759" y="1676400"/>
            <a:ext cx="611743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B82F6"/>
                </a:solidFill>
                <a:latin typeface="Space Grotesk"/>
              </a:rPr>
              <a:t>TRANSFORMED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358925"/>
            <a:ext cx="5800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F1239"/>
                </a:solidFill>
                <a:latin typeface="Space Grotesk"/>
              </a:rPr>
              <a:t>Network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682775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C0519"/>
                </a:solidFill>
                <a:latin typeface="Inter"/>
              </a:rPr>
              <a:t>Strict 1:1 single connectivity. One CU supervised a single DU.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00326"/>
            <a:ext cx="5800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F1239"/>
                </a:solidFill>
                <a:latin typeface="Space Grotesk"/>
              </a:rPr>
              <a:t>UE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24176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C0519"/>
                </a:solidFill>
                <a:latin typeface="Inter"/>
              </a:rPr>
              <a:t>Strictly linear pipeline. One Radio, MAC, RLC, and PDCP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241726"/>
            <a:ext cx="5800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F1239"/>
                </a:solidFill>
                <a:latin typeface="Space Grotesk"/>
              </a:rPr>
              <a:t>The Deadlock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565576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C0519"/>
                </a:solidFill>
                <a:latin typeface="Inter"/>
              </a:rPr>
              <a:t>Dual UE apps caused OS IP address conflicts and collisions.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675" y="2458938"/>
            <a:ext cx="52673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Space Grotesk"/>
              </a:rPr>
              <a:t>Network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4675" y="2782788"/>
            <a:ext cx="52673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52E16"/>
                </a:solidFill>
                <a:latin typeface="Inter"/>
              </a:rPr>
              <a:t>1 CU dynamically orchestrates 2 independent DUs.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4675" y="3800326"/>
            <a:ext cx="52673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Space Grotesk"/>
              </a:rPr>
              <a:t>Dual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675" y="4124176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52E16"/>
                </a:solidFill>
                <a:latin typeface="Inter"/>
              </a:rPr>
              <a:t>Simultaneous parallel radio legs in one application process.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675" y="5241726"/>
            <a:ext cx="52673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Space Grotesk"/>
              </a:rPr>
              <a:t>MR-DC compliant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4675" y="5565576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52E16"/>
                </a:solidFill>
                <a:latin typeface="Inter"/>
              </a:rPr>
              <a:t>Shared PDCP memory layer handles splitting and reordering.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6400"/>
            <a:ext cx="53721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676400"/>
            <a:ext cx="53721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76700"/>
            <a:ext cx="53721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76700"/>
            <a:ext cx="53721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45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914525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314825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314825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HOW WE MODIFIED THE CODEBASE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144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Core Engineering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1914525"/>
            <a:ext cx="57757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Unified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3025" y="2257425"/>
            <a:ext cx="44958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Master and secondary connections in one app. Zero Linux namespace conflicts.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1825" y="1914525"/>
            <a:ext cx="52101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In-Memory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1825" y="2257425"/>
            <a:ext cx="44577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Direct PDCP buffer routing. Zero intermediate network delays or socket overhead.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4314825"/>
            <a:ext cx="57757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Control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4657725"/>
            <a:ext cx="44958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All vital RLC signaling routed strictly through the isolated master cell.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4314825"/>
            <a:ext cx="5286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Standard Compatibility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4657725"/>
            <a:ext cx="4533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Operates over standard F1/E1. Zero changes required to the Open5GS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43100"/>
            <a:ext cx="3454449" cy="43053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1943100"/>
            <a:ext cx="3454449" cy="43053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1943100"/>
            <a:ext cx="3454449" cy="43053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238875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943100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943100"/>
            <a:ext cx="133350" cy="43053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3B82F6"/>
              </a:solidFill>
              <a:highlight>
                <a:srgbClr val="3B82F6"/>
              </a:highligh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54524" y="1943100"/>
            <a:ext cx="9525" cy="430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8849" y="6238875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8849" y="1943100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8849" y="1943100"/>
            <a:ext cx="133350" cy="43053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3774" y="1943100"/>
            <a:ext cx="9525" cy="430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28099" y="6238875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8099" y="1943100"/>
            <a:ext cx="3454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8099" y="1943100"/>
            <a:ext cx="133350" cy="43053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3023" y="1943100"/>
            <a:ext cx="9525" cy="4305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257425"/>
            <a:ext cx="457200" cy="457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99" y="2257425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249" y="2257425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914400"/>
            <a:ext cx="11582400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utfit"/>
              </a:rPr>
              <a:t>Multi-Connectivity Modalities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943225"/>
            <a:ext cx="354634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Split Bearer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3371850"/>
            <a:ext cx="3377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THROUGHPUT AGGREGATION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6999" y="2943225"/>
            <a:ext cx="354634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Packet 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6999" y="3371850"/>
            <a:ext cx="3377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ULTRA-RELIABILITY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6249" y="2943225"/>
            <a:ext cx="354634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Dynamic Switching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6249" y="3371850"/>
            <a:ext cx="3377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INSTANT FAILOVER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3790950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Simultaneous distribution across DU1 and DU2.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" y="4423171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User-configurable ratios (1:1, 2:7, 3:4).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" y="5055393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Active congestion avoidance redirects full queues.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6999" y="3790950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Simultaneous identical transmission across paths.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6999" y="4423171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PDCP accepts first-arrival payload.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6999" y="5055393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Seamless automatic duplicate discard.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6249" y="3790950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100% unilateral routing through active leg.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6249" y="4423171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Secondary leg kept synchronized in background.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6249" y="5055393"/>
            <a:ext cx="2797224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Instant ground-to-space failover without teardown.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6400"/>
            <a:ext cx="5334000" cy="977205"/>
          </a:xfrm>
          <a:prstGeom prst="roundRect">
            <a:avLst>
              <a:gd name="adj" fmla="val 11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06005"/>
            <a:ext cx="5334000" cy="977205"/>
          </a:xfrm>
          <a:prstGeom prst="roundRect">
            <a:avLst>
              <a:gd name="adj" fmla="val 11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35610"/>
            <a:ext cx="5334000" cy="977205"/>
          </a:xfrm>
          <a:prstGeom prst="roundRect">
            <a:avLst>
              <a:gd name="adj" fmla="val 11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065216"/>
            <a:ext cx="5334000" cy="977205"/>
          </a:xfrm>
          <a:prstGeom prst="roundRect">
            <a:avLst>
              <a:gd name="adj" fmla="val 11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1676400"/>
            <a:ext cx="5334000" cy="2062162"/>
          </a:xfrm>
          <a:prstGeom prst="roundRect">
            <a:avLst>
              <a:gd name="adj" fmla="val 554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3890962"/>
            <a:ext cx="5334000" cy="2062162"/>
          </a:xfrm>
          <a:prstGeom prst="roundRect">
            <a:avLst>
              <a:gd name="adj" fmla="val 554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30521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B82F6"/>
                </a:solidFill>
                <a:latin typeface="Inter"/>
              </a:rPr>
              <a:t>NON-TERRESTRIAL NETWORK (NTN)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144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3GPP Release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133600" y="6105525"/>
            <a:ext cx="1371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0F172A"/>
                </a:solidFill>
                <a:latin typeface="Inter"/>
              </a:rPr>
              <a:t>3GPP TR 38.821 - Solutions for NR to support non-terrestrial networks (NTN)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838325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Scheduling Offsets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095500"/>
            <a:ext cx="4953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Release 17 slot scheduling offsets prevent uplink grants from expiring prematurely.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967930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Ephemeris Broadcast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225105"/>
            <a:ext cx="4953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SIB19 broadcasts 3D satellite position coordinates and velocities direct to device.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097535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HARQ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354710"/>
            <a:ext cx="4953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Disabled standard stop-and-wait retransmissions to prevent buffer latency freezes.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227141"/>
            <a:ext cx="63757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Extended Guard Timers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5484316"/>
            <a:ext cx="4953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Procedural timers extended from 5 seconds to 12.8 seconds for space propagation.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9053" y="1964531"/>
            <a:ext cx="631269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Space Grotesk"/>
              </a:rPr>
              <a:t>LEO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306" y="2374106"/>
            <a:ext cx="607218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3B82F6"/>
                </a:solidFill>
                <a:latin typeface="Inter"/>
              </a:rPr>
              <a:t>7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306" y="2907506"/>
            <a:ext cx="6072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Inter"/>
              </a:rPr>
              <a:t>One way 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306" y="3259931"/>
            <a:ext cx="6072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600 km altitude • 28,800 software samples.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9053" y="4179093"/>
            <a:ext cx="631269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Space Grotesk"/>
              </a:rPr>
              <a:t>GEO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306" y="4588668"/>
            <a:ext cx="607218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3B82F6"/>
                </a:solidFill>
                <a:latin typeface="Inter"/>
              </a:rPr>
              <a:t>240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306" y="5122068"/>
            <a:ext cx="6072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Inter"/>
              </a:rPr>
              <a:t>One way 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306" y="5474493"/>
            <a:ext cx="6072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35,786 km altitude • 1,382,400 software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5410200" cy="173637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19200"/>
            <a:ext cx="5410200" cy="17363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07977"/>
            <a:ext cx="5410200" cy="17363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107977"/>
            <a:ext cx="5410200" cy="17363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996755"/>
            <a:ext cx="10972800" cy="173637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343025"/>
            <a:ext cx="5162550" cy="148872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343025"/>
            <a:ext cx="5162550" cy="148872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231802"/>
            <a:ext cx="5162550" cy="14887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025" y="3231802"/>
            <a:ext cx="5162550" cy="148872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5198119"/>
            <a:ext cx="10725150" cy="1333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507523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fr-FR" sz="3000" b="1" dirty="0">
                <a:solidFill>
                  <a:srgbClr val="0F172A"/>
                </a:solidFill>
                <a:latin typeface="Space Grotesk"/>
              </a:rPr>
              <a:t>5</a:t>
            </a:r>
            <a:r>
              <a:rPr sz="3000" b="1" i="0" u="none" dirty="0">
                <a:solidFill>
                  <a:srgbClr val="0F172A"/>
                </a:solidFill>
                <a:latin typeface="Space Grotesk"/>
              </a:rPr>
              <a:t> Space &amp; Ground Architectures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81000" y="6885533"/>
            <a:ext cx="12954000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F172A"/>
                </a:solidFill>
                <a:latin typeface="Inter"/>
              </a:rPr>
              <a:t>S. Taborelli, F. Veisi, P. B. Velloso and S. Secci, "O-RAN Integrated Space-Terrestrial Networks: A Multi-Connectivity Strategy Analysis," IEEE INFOCOM 2026, Tokyo, Japan, 2026,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6400"/>
            <a:ext cx="493767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52070" y="1676400"/>
            <a:ext cx="5730329" cy="1422350"/>
          </a:xfrm>
          <a:prstGeom prst="roundRect">
            <a:avLst>
              <a:gd name="adj" fmla="val 803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52070" y="3251150"/>
            <a:ext cx="5730329" cy="1422350"/>
          </a:xfrm>
          <a:prstGeom prst="roundRect">
            <a:avLst>
              <a:gd name="adj" fmla="val 803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52070" y="4825900"/>
            <a:ext cx="5730329" cy="1422350"/>
          </a:xfrm>
          <a:prstGeom prst="roundRect">
            <a:avLst>
              <a:gd name="adj" fmla="val 803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95" y="2197000"/>
            <a:ext cx="33337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395" y="3771751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395" y="5346501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914400"/>
            <a:ext cx="470680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b="1" dirty="0">
                <a:solidFill>
                  <a:srgbClr val="0F172A"/>
                </a:solidFill>
                <a:latin typeface="Outfit"/>
              </a:rPr>
              <a:t>Empirical Validation Results</a:t>
            </a:r>
            <a:endParaRPr sz="30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125" y="2500312"/>
            <a:ext cx="545556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Full End-to-End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909887"/>
            <a:ext cx="425187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Integrated Open5GS Core, disaggregated oCUDU nodes, and monolithic dual-stack UE over software radio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986212"/>
            <a:ext cx="545556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Key Architectural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395787"/>
            <a:ext cx="425187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Terrestrial anchoring bypasses strict device delay requirements. Commercial devices instantly attach to the zero-delay ground cell, unlocking high-throughput satellite aggregation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8370" y="2120800"/>
            <a:ext cx="5463629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Space Grotesk"/>
              </a:rPr>
              <a:t>3–5s Establishment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8370" y="2454175"/>
            <a:ext cx="5250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B82F6"/>
                </a:solidFill>
                <a:latin typeface="Inter"/>
              </a:rPr>
              <a:t>PDU sessions connect reliably across all scenarios.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995" y="3595538"/>
            <a:ext cx="541600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Space Grotesk"/>
              </a:rPr>
              <a:t>Data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995" y="3928913"/>
            <a:ext cx="458732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B82F6"/>
                </a:solidFill>
                <a:latin typeface="Inter"/>
              </a:rPr>
              <a:t>End-to-end ICMP ping traffic confirms seamless routing.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995" y="5270301"/>
            <a:ext cx="541600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Space Grotesk"/>
              </a:rPr>
              <a:t>50/50 Splitting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995" y="5603676"/>
            <a:ext cx="5274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B82F6"/>
                </a:solidFill>
                <a:latin typeface="Inter"/>
              </a:rPr>
              <a:t>Clean packet alternation confirmed in protocol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78606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50996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967162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500" y="1452562"/>
            <a:ext cx="445055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Space Grotesk"/>
              </a:rPr>
              <a:t>Roadmap: Future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9250" y="2728912"/>
            <a:ext cx="39528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8FAFC"/>
                </a:solidFill>
                <a:latin typeface="Inter"/>
              </a:rPr>
              <a:t>Dynamic multi-connectivity scerion driven by SINR using collected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50" y="3452812"/>
            <a:ext cx="37147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8FAFC"/>
                </a:solidFill>
                <a:latin typeface="Inter"/>
              </a:rPr>
              <a:t>Integrated constellation dynamic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3910012"/>
            <a:ext cx="39528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8FAFC"/>
                </a:solidFill>
                <a:latin typeface="Inter"/>
              </a:rPr>
              <a:t>Physical SDR hardware deployment (USRP).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143500"/>
            <a:ext cx="3810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5143500"/>
            <a:ext cx="3810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CHANNEL PHYSICS &amp;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Physical Layer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4600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0.25 ms Slot Duration (60 kHz)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00250"/>
            <a:ext cx="3600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Numerology 2. A 5ms delay spans 20 slots.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76400"/>
            <a:ext cx="4600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Band n78 Terrestrial (3.5 GHz)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00250"/>
            <a:ext cx="438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100 MHz bandwidth, TDD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0" y="1676400"/>
            <a:ext cx="4114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Band n256 Space (S-Band)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2000250"/>
            <a:ext cx="3600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UL: 1980–2010 MHz, DL: 2170–2200 MHz, FDD.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5105400"/>
            <a:ext cx="625078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Link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5476875"/>
            <a:ext cx="4857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SINR dynamically guides base station modulation downscaling (64-QAM to robust QPSK) under poor link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5105400"/>
            <a:ext cx="53721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Disconnection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5476875"/>
            <a:ext cx="4857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Loss of satellite visibility triggers internal out-of-sync counters for clean radio link failure and session re-establishment.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735</Words>
  <Application>Microsoft Office PowerPoint</Application>
  <PresentationFormat>Widescreen</PresentationFormat>
  <Paragraphs>112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Outfit</vt:lpstr>
      <vt:lpstr>Inter</vt:lpstr>
      <vt:lpstr>Calibri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Youcef Bellouche</cp:lastModifiedBy>
  <cp:revision>2</cp:revision>
  <dcterms:created xsi:type="dcterms:W3CDTF">2013-01-27T09:14:16Z</dcterms:created>
  <dcterms:modified xsi:type="dcterms:W3CDTF">2026-09-22T08:09:52Z</dcterms:modified>
  <cp:category/>
</cp:coreProperties>
</file>